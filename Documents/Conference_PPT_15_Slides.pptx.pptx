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53100" cy="3238500"/>
  <p:notesSz cx="6858000" cy="9144000"/>
  <p:embeddedFontLst>
    <p:embeddedFont>
      <p:font typeface="IBM Plex Sans Condensed" panose="020B0604020202020204" charset="0"/>
      <p:bold r:id="rId11"/>
      <p:boldItalic r:id="rId12"/>
    </p:embeddedFont>
    <p:embeddedFont>
      <p:font typeface="Poppins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DM Sans" panose="020B0604020202020204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vpx60kFJchDSxv1XZCtyUwYV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161"/>
    <a:srgbClr val="E5DDBF"/>
    <a:srgbClr val="595959"/>
    <a:srgbClr val="4F81BD"/>
    <a:srgbClr val="9BBB59"/>
    <a:srgbClr val="4BACC6"/>
    <a:srgbClr val="EEE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1" d="100"/>
          <a:sy n="171" d="100"/>
        </p:scale>
        <p:origin x="1051" y="1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Yolo v5</c:v>
                </c:pt>
                <c:pt idx="1">
                  <c:v>Yolo v8</c:v>
                </c:pt>
                <c:pt idx="2">
                  <c:v>Yolo v7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0.90300000000000002</c:v>
                </c:pt>
                <c:pt idx="1">
                  <c:v>0.91400000000000003</c:v>
                </c:pt>
                <c:pt idx="2">
                  <c:v>0.80500000000000005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F2F-4C3B-8E01-763966DE6B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Yolo v5</c:v>
                </c:pt>
                <c:pt idx="1">
                  <c:v>Yolo v8</c:v>
                </c:pt>
                <c:pt idx="2">
                  <c:v>Yolo v7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0.876</c:v>
                </c:pt>
                <c:pt idx="1">
                  <c:v>0.88600000000000001</c:v>
                </c:pt>
                <c:pt idx="2">
                  <c:v>0.76400000000000001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F2F-4C3B-8E01-763966DE6B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Yolo v5</c:v>
                </c:pt>
                <c:pt idx="1">
                  <c:v>Yolo v8</c:v>
                </c:pt>
                <c:pt idx="2">
                  <c:v>Yolo v7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0.91400000000000003</c:v>
                </c:pt>
                <c:pt idx="1">
                  <c:v>0.93400000000000005</c:v>
                </c:pt>
                <c:pt idx="2">
                  <c:v>0.82099999999999995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CF2F-4C3B-8E01-763966DE6B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5256000"/>
        <c:axId val="995258176"/>
      </c:barChart>
      <c:catAx>
        <c:axId val="995256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995258176"/>
        <c:crosses val="autoZero"/>
        <c:auto val="1"/>
        <c:lblAlgn val="ctr"/>
        <c:lblOffset val="100"/>
        <c:noMultiLvlLbl val="0"/>
      </c:catAx>
      <c:valAx>
        <c:axId val="995258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5256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5290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7387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1859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0274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2820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095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3184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75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383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53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777240" y="1619250"/>
            <a:ext cx="43027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1668AB"/>
              </a:buClr>
              <a:buSzPts val="1100"/>
            </a:pP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Neuro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-Diagnosis</a:t>
            </a:r>
            <a:r>
              <a:rPr lang="en-US" sz="1100" b="1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: A YOLO-Inspired Pipeline for Automated Tumor Boundary Extraction and MRI-Based Classification and 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Segmentation.</a:t>
            </a:r>
            <a:r>
              <a:rPr lang="en-US" sz="1000" b="1" i="0" u="none" strike="noStrike" cap="none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Paper Id: 163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21154" y="2257006"/>
            <a:ext cx="366206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1668AB"/>
              </a:buClr>
              <a:buSzPts val="1100"/>
            </a:pPr>
            <a:r>
              <a:rPr lang="en-US" sz="1100" b="1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Authors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:  K.V</a:t>
            </a:r>
            <a:r>
              <a:rPr lang="en-US" sz="1100" b="1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00" b="1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Narasimha</a:t>
            </a:r>
            <a:r>
              <a:rPr lang="en-US" sz="1100" b="1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Reddy, </a:t>
            </a:r>
            <a:r>
              <a:rPr lang="en-US" sz="1100" b="1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Shaik</a:t>
            </a:r>
            <a:r>
              <a:rPr lang="en-US" sz="1100" b="1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Mohammad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Khaleel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Bontha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John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Babu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Yannakula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Shiva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Sai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</a:p>
          <a:p>
            <a:pPr lvl="0" algn="ctr">
              <a:buClr>
                <a:srgbClr val="1668AB"/>
              </a:buClr>
              <a:buSzPts val="1100"/>
            </a:pP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Chowdari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Rama Krishna,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Dodda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Venkata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Reddy, </a:t>
            </a:r>
          </a:p>
          <a:p>
            <a:pPr lvl="0" algn="ctr">
              <a:buClr>
                <a:srgbClr val="1668AB"/>
              </a:buClr>
              <a:buSzPts val="1100"/>
            </a:pP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Akila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Venkatraman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Dr.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Sireesha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dirty="0" err="1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Moturi</a:t>
            </a:r>
            <a:r>
              <a:rPr lang="en-US" sz="1100" b="1" dirty="0" smtClean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323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0" y="98410"/>
            <a:ext cx="1039658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00" b="1" i="0" u="none" strike="noStrike" cap="none" dirty="0" smtClean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:163</a:t>
            </a: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294280" y="603607"/>
            <a:ext cx="5156324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MRI analysis is 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slow and prone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human error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fast, accurate and real-time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tumor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lang="en-US" dirty="0"/>
              <a:t>→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uild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YOLO-based pipeline for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tumor segmentation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classification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r>
              <a:rPr lang="en-US" dirty="0" smtClean="0"/>
              <a:t>→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accuracy, reduced diagnostic time, and real-time capability.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29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-2429" y="91243"/>
            <a:ext cx="1044120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00" b="1" i="0" u="none" strike="noStrike" cap="none" dirty="0" smtClean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:163</a:t>
            </a:r>
            <a:endParaRPr dirty="0"/>
          </a:p>
        </p:txBody>
      </p:sp>
      <p:sp>
        <p:nvSpPr>
          <p:cNvPr id="100" name="Google Shape;100;p3"/>
          <p:cNvSpPr txBox="1"/>
          <p:nvPr/>
        </p:nvSpPr>
        <p:spPr>
          <a:xfrm>
            <a:off x="249787" y="682455"/>
            <a:ext cx="534812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 tumors are life-threatening due to uncontrolled cell growth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MRI is the most reliable method for detecting brain tumors without surgery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lvl="0">
              <a:buClr>
                <a:schemeClr val="dk1"/>
              </a:buClr>
              <a:buSzPts val="1100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models 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(CNN, YOLO)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diagnostic accuracy but face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  <a:r>
              <a:rPr lang="en-US" dirty="0"/>
              <a:t>→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Variability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MRI quality, complex tumor boundaries, limited annotated datasets.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0"/>
            <a:ext cx="5769532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-807348" y="95250"/>
            <a:ext cx="2596370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00" b="1" i="0" u="none" strike="noStrike" cap="none" dirty="0" smtClean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:163</a:t>
            </a:r>
            <a:endParaRPr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194071" y="684458"/>
            <a:ext cx="5370521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</a:t>
            </a: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r>
              <a:rPr lang="en-US" dirty="0"/>
              <a:t>→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CNN-based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and hybrid U-Net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lang="en-US" dirty="0"/>
              <a:t>→ 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time, limited real-time use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  <a:r>
              <a:rPr lang="en-US" dirty="0"/>
              <a:t>→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 YOLO-based ensemble (YOLOv5, YOLOv7, YOLOv8) for simultaneous segmentation and classification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a real-time GUI for visual diagnostic support</a:t>
            </a:r>
            <a:r>
              <a:rPr lang="en-US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endParaRPr lang="en-US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 for faster inference and clinical usability.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5761316" cy="323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68503" y="688303"/>
            <a:ext cx="3392448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6" marR="0" lvl="1" indent="0" algn="l" rtl="0">
              <a:lnSpc>
                <a:spcPct val="855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2799079" y="688302"/>
            <a:ext cx="2849881" cy="236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automates brain tumor detection from MRI scans using YOLO-based models</a:t>
            </a:r>
            <a:r>
              <a:rPr lang="en-US" sz="11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Preprocessed images are trained through YOLOv5, YOLOv7, and YOLOv8 to extract tumor features and classify them as 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Glioma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Meningioma, or Pituitary</a:t>
            </a:r>
            <a:r>
              <a:rPr lang="en-US" sz="11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is evaluated using Precision, Recall, and </a:t>
            </a:r>
            <a:r>
              <a:rPr lang="en-US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 a GUI interface displaying real-time results</a:t>
            </a:r>
            <a:r>
              <a:rPr lang="en-US" sz="11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237491" marR="0" lvl="1" indent="-488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-883920" y="107260"/>
            <a:ext cx="267294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00" b="1" i="0" u="none" strike="noStrike" cap="none" dirty="0" smtClean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:163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637171" y="421202"/>
            <a:ext cx="1793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Overview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9" y="688302"/>
            <a:ext cx="2770690" cy="21262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-9017"/>
            <a:ext cx="5785594" cy="324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6"/>
          <p:cNvGrpSpPr/>
          <p:nvPr/>
        </p:nvGrpSpPr>
        <p:grpSpPr>
          <a:xfrm>
            <a:off x="1894836" y="49385"/>
            <a:ext cx="1989385" cy="274495"/>
            <a:chOff x="0" y="-18316"/>
            <a:chExt cx="2652513" cy="365994"/>
          </a:xfrm>
        </p:grpSpPr>
        <p:sp>
          <p:nvSpPr>
            <p:cNvPr id="122" name="Google Shape;122;p6"/>
            <p:cNvSpPr txBox="1"/>
            <p:nvPr/>
          </p:nvSpPr>
          <p:spPr>
            <a:xfrm>
              <a:off x="175023" y="-18316"/>
              <a:ext cx="2335620" cy="36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4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0" y="-6661"/>
              <a:ext cx="2652513" cy="34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30" b="1" i="0" u="none" strike="noStrike" cap="none">
                <a:solidFill>
                  <a:srgbClr val="65A43D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2697479" y="645159"/>
            <a:ext cx="3017521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0196" indent="-171450">
              <a:lnSpc>
                <a:spcPct val="140000"/>
              </a:lnSpc>
              <a:buSzPts val="1100"/>
              <a:buFont typeface="Arial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YOLOv8 outperforms YOLOv5 and YOLOv7 in all key metrics</a:t>
            </a:r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  <a:p>
            <a:pPr marL="290196" indent="-171450">
              <a:lnSpc>
                <a:spcPct val="140000"/>
              </a:lnSpc>
              <a:buSzPts val="1100"/>
              <a:buFont typeface="Arial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reliable, real-time performance suitable for clinical use.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-828040" y="111832"/>
            <a:ext cx="259674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00" b="1" i="0" u="none" strike="noStrike" cap="none" dirty="0" smtClean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:163</a:t>
            </a:r>
            <a:endParaRPr dirty="0"/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221346583"/>
              </p:ext>
            </p:extLst>
          </p:nvPr>
        </p:nvGraphicFramePr>
        <p:xfrm>
          <a:off x="40144" y="391023"/>
          <a:ext cx="2720898" cy="2589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885942"/>
              </p:ext>
            </p:extLst>
          </p:nvPr>
        </p:nvGraphicFramePr>
        <p:xfrm>
          <a:off x="2856854" y="1753946"/>
          <a:ext cx="2733067" cy="1113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596"/>
                <a:gridCol w="758814"/>
                <a:gridCol w="662940"/>
                <a:gridCol w="567717"/>
              </a:tblGrid>
              <a:tr h="302339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DL</a:t>
                      </a:r>
                      <a:r>
                        <a:rPr lang="en-US" sz="11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Model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E5D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Precision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Recall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mAP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BACC6"/>
                    </a:solidFill>
                  </a:tcPr>
                </a:tc>
              </a:tr>
              <a:tr h="254699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Yolo v5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E5D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0.903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0.876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BACC6"/>
                    </a:solidFill>
                  </a:tcPr>
                </a:tc>
              </a:tr>
              <a:tr h="269939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Yolo v7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E5D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0.805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0.764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0.821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BACC6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Yolo v8</a:t>
                      </a:r>
                      <a:endParaRPr lang="en-US" sz="11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E5DD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0.914</a:t>
                      </a:r>
                      <a:endParaRPr lang="en-US" sz="11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0.886</a:t>
                      </a:r>
                      <a:endParaRPr lang="en-US" sz="11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0.934</a:t>
                      </a:r>
                      <a:endParaRPr lang="en-US" sz="11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4BACC6"/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88062" y="2849953"/>
            <a:ext cx="23094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rgbClr val="6161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en-US" sz="1200" b="1" dirty="0" smtClean="0">
                <a:solidFill>
                  <a:srgbClr val="6161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rgbClr val="6161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 smtClean="0">
                <a:solidFill>
                  <a:srgbClr val="6161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Average Precision</a:t>
            </a:r>
            <a:endParaRPr lang="en-US" sz="1200" b="1" dirty="0">
              <a:solidFill>
                <a:srgbClr val="61616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4817"/>
            <a:ext cx="5795928" cy="3253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69364" y="520377"/>
            <a:ext cx="5619100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7491" lvl="1" indent="-118745">
              <a:lnSpc>
                <a:spcPct val="140000"/>
              </a:lnSpc>
              <a:buSzPts val="1100"/>
              <a:buFont typeface="Arial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Main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Findings</a:t>
            </a:r>
            <a:r>
              <a:rPr lang="en-US" dirty="0"/>
              <a:t>→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YOLOv8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achieves Precision 0.914, Recall 0.886,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mAP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0.934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  <a:p>
            <a:pPr marL="237491" lvl="1" indent="-118745">
              <a:lnSpc>
                <a:spcPct val="140000"/>
              </a:lnSpc>
              <a:buSzPts val="1100"/>
              <a:buFont typeface="Arial"/>
              <a:buChar char="•"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Advantages</a:t>
            </a:r>
            <a:r>
              <a:rPr lang="en-US" dirty="0"/>
              <a:t>→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Automation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Real-time processing, Reliable diagnosis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</a:p>
          <a:p>
            <a:pPr marL="237491" lvl="1" indent="-118745">
              <a:lnSpc>
                <a:spcPct val="140000"/>
              </a:lnSpc>
              <a:buSzPts val="1100"/>
              <a:buFont typeface="Arial"/>
              <a:buChar char="•"/>
            </a:pPr>
            <a:r>
              <a:rPr lang="en-US" b="1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Key contributions</a:t>
            </a:r>
            <a:r>
              <a:rPr lang="en-US" dirty="0"/>
              <a:t>→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YOLOv8-based automated brain tumor detection with high accuracy.</a:t>
            </a:r>
            <a:endParaRPr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37491" lvl="1" indent="-118745">
              <a:lnSpc>
                <a:spcPct val="140000"/>
              </a:lnSpc>
              <a:buSzPts val="1100"/>
              <a:buFont typeface="Arial"/>
              <a:buChar char="•"/>
            </a:pPr>
            <a:r>
              <a:rPr lang="en-US" b="1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Limitations</a:t>
            </a:r>
            <a:r>
              <a:rPr lang="en-US" dirty="0"/>
              <a:t>→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by 2D MRI data, class imbalance, and lacks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explainability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clinical use.</a:t>
            </a:r>
            <a:endParaRPr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37491" lvl="1" indent="-118745">
              <a:lnSpc>
                <a:spcPct val="140000"/>
              </a:lnSpc>
              <a:buSzPts val="1100"/>
              <a:buFont typeface="Arial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Future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Scope</a:t>
            </a:r>
            <a:r>
              <a:rPr lang="en-US" dirty="0"/>
              <a:t>→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3D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MRI, Explainable AI (XAI), Clinical deployment.</a:t>
            </a:r>
            <a:endParaRPr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-838200" y="111832"/>
            <a:ext cx="262722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00" b="1" i="0" u="none" strike="noStrike" cap="none" dirty="0" smtClean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:163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9827"/>
            <a:ext cx="5791200" cy="325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0" y="454881"/>
            <a:ext cx="2743199" cy="27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Hariharan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N. Surya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“Automated brain tumor detection and localization using YOLO-based deep learning algorithm,” 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J.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Psychiatr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Rehabil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., vol. 28, no. 5, </a:t>
            </a:r>
            <a:endParaRPr lang="en-US" sz="58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198–203,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58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K.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Pehlivanoğlu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İ.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İnce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B. A.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Kından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 G.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Eker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İ.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Doğan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“Towards advanced brain tumor segmentation: A novel hybrid architecture integrating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FCN, and YOLO models on the newly introduced BTS-DS 2024 dataset,” Eur. Phys. 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J. Spec. Top., 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pp. 1–15,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58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Xiong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 Wu, Y. Yang, and Q. Fu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“Efficient brain tumor segmentation for MRI images using YOLO-BT,” Sensors, vol. 25, 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12, p. 3645,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58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Alamiri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</a:t>
            </a:r>
            <a:r>
              <a:rPr lang="en-US" sz="58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58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“Applying deep learning to MRI image analysis for brain tumor classification,” in Proc. 6th Int. Conf. Bio-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eng.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Smart Technol. (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BioSMART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endParaRPr lang="en-US" sz="58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1–5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K. Thakur and S. Chauhan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“Brain tumor detection and classification using YOLO algorithms,” in Proc. Int. Conf. Inventive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Technol. (ICICT),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pp. 116–123.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H. O.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Alnageeb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M. H.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Supriya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brain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tumour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diagnoses using a novel lightweight deep learning model,” </a:t>
            </a:r>
            <a:r>
              <a:rPr lang="en-US" sz="58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Biol. Med., vol. 192, p. 110242,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[7]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K. V. N. Reddy, V. R.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Dodda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R. R. Mule, P. R.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Babu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M.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Aparna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“Brain tumor detection using deep learning techniques,” AIP Conf. Proc., vol. 3162, p. 020072,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[8]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J. Huang, W. Ding, T.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Zhong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G. Yu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“YOLO-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TumorNet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An innovative model for enhancing brain tumor detection performance,” Alexandria Eng. J., vol. 119, </a:t>
            </a:r>
            <a:endParaRPr lang="en-US" sz="58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211–221,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</a:t>
            </a:r>
          </a:p>
          <a:p>
            <a:pPr marL="118746" lvl="1">
              <a:lnSpc>
                <a:spcPct val="140000"/>
              </a:lnSpc>
              <a:buSzPts val="1100"/>
            </a:pPr>
            <a:endParaRPr sz="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-868680" y="111832"/>
            <a:ext cx="265770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1100" b="1" i="0" u="none" strike="noStrike" cap="none" dirty="0" smtClean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:163</a:t>
            </a:r>
            <a:endParaRPr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801790" y="499575"/>
            <a:ext cx="1" cy="25112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138;p8"/>
          <p:cNvSpPr txBox="1"/>
          <p:nvPr/>
        </p:nvSpPr>
        <p:spPr>
          <a:xfrm>
            <a:off x="2801790" y="650460"/>
            <a:ext cx="2911769" cy="249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6" lvl="1">
              <a:lnSpc>
                <a:spcPct val="140000"/>
              </a:lnSpc>
              <a:buSzPts val="1100"/>
            </a:pP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M. Kang, F. F. Ting, R. C. W.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Phan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C. M. Ting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“PK-YOLO: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Pretrained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knowledge guided YOLO for brain tumor detection in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multiplanar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MRI slices,” in Proc. IEEE/CVF Winter Conf. Appl.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Vis. (WACV),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pp. 3732–3741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[10]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L.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Jagannadham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K. L.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Nadh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M.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Sireesha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“Brain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tumour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detection using </a:t>
            </a:r>
            <a:r>
              <a:rPr lang="en-US" sz="58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CNN</a:t>
            </a:r>
            <a:r>
              <a:rPr lang="en-US" sz="58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,”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Proc. 5th Int. Conf. I-SMAC (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Social, Mobile, Analytics and Cloud),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Palladam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India,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2021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pp. 734–739, </a:t>
            </a:r>
            <a:r>
              <a:rPr lang="en-US" sz="58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10.1109/I-SMAC52330.2021.9640875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[11]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Khalighiyan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“Brain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tumour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identification through advanced machine learning techniques,” M.S. thesis, Univ. Windsor, Canada,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[12]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N. B.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Bahadure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Routray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J. C.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Patni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Raju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P. D.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Patil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“Berkeley wavelet transform and improved YOLOv7-based classification technique for brain tumor severity prediction,” Int. J.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58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Eng., vol. 15, no. 1,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[13]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Bai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Xu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Y. Shi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“SCC-YOLO: An improved object detector for assisting in brain tumor diagnosis,” in Proc. Int. Conf. Health Big Data,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pp. 114–120.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[14]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Uzun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Okuyar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“A new deep learning-based GUI design and implementation for automatic detection of brain strokes with CT images,” Eur. Phys. J. Spec. Top., vol. 234, no. 1, pp. 141–164,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[15]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Muksimova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Umirzakova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Mardieva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Iskhakova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M. </a:t>
            </a:r>
            <a:r>
              <a:rPr lang="en-US" sz="58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Sultanov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Y. I. Cho</a:t>
            </a: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118746" lvl="1">
              <a:lnSpc>
                <a:spcPct val="140000"/>
              </a:lnSpc>
              <a:buSzPts val="1100"/>
            </a:pPr>
            <a:r>
              <a:rPr lang="en-US" sz="58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 lightweight attention-driven YOLOv5m model for improved brain tumor detection,” in Proc. IEEE Conf. Computers in Biology and Medicine, vol. 188, p. 109893, </a:t>
            </a:r>
            <a:r>
              <a:rPr lang="en-US" sz="58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2025.</a:t>
            </a:r>
          </a:p>
          <a:p>
            <a:pPr marL="118746" lvl="1">
              <a:lnSpc>
                <a:spcPct val="140000"/>
              </a:lnSpc>
              <a:buSzPts val="1100"/>
            </a:pPr>
            <a:endParaRPr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1201</Words>
  <Application>Microsoft Office PowerPoint</Application>
  <PresentationFormat>Custom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IBM Plex Sans Condensed</vt:lpstr>
      <vt:lpstr>Poppins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Sarthak</dc:creator>
  <cp:lastModifiedBy>Microsoft account</cp:lastModifiedBy>
  <cp:revision>25</cp:revision>
  <dcterms:created xsi:type="dcterms:W3CDTF">2006-08-16T00:00:00Z</dcterms:created>
  <dcterms:modified xsi:type="dcterms:W3CDTF">2025-11-12T14:00:45Z</dcterms:modified>
</cp:coreProperties>
</file>